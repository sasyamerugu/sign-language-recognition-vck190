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x="18288000" cy="10287000"/>
  <p:notesSz cx="6858000" cy="9144000"/>
  <p:embeddedFontLst>
    <p:embeddedFont>
      <p:font typeface="Century Gothic Paneuropean Bold" charset="1" panose="020B0702020202020204"/>
      <p:regular r:id="rId17"/>
    </p:embeddedFont>
    <p:embeddedFont>
      <p:font typeface="Century Gothic Paneuropean" charset="1" panose="020B0502020202020204"/>
      <p:regular r:id="rId18"/>
    </p:embeddedFont>
    <p:embeddedFont>
      <p:font typeface="Open Sans" charset="1" panose="020B0606030504020204"/>
      <p:regular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5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6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242407" y="1327631"/>
            <a:ext cx="16016893" cy="64098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749"/>
              </a:lnSpc>
            </a:pPr>
            <a:r>
              <a:rPr lang="en-US" b="true" sz="9107">
                <a:solidFill>
                  <a:srgbClr val="000000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SIGN LANGUAG</a:t>
            </a:r>
            <a:r>
              <a:rPr lang="en-US" b="true" sz="9107">
                <a:solidFill>
                  <a:srgbClr val="000000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E DEPLOYMENT ON VERSAL VCK190</a:t>
            </a:r>
          </a:p>
          <a:p>
            <a:pPr algn="ctr">
              <a:lnSpc>
                <a:spcPts val="12749"/>
              </a:lnSpc>
            </a:pPr>
          </a:p>
        </p:txBody>
      </p:sp>
      <p:sp>
        <p:nvSpPr>
          <p:cNvPr name="TextBox 3" id="3"/>
          <p:cNvSpPr txBox="true"/>
          <p:nvPr/>
        </p:nvSpPr>
        <p:spPr>
          <a:xfrm rot="0">
            <a:off x="4882925" y="7304329"/>
            <a:ext cx="8522150" cy="21502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642"/>
              </a:lnSpc>
            </a:pPr>
            <a:r>
              <a:rPr lang="en-US" sz="6173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By Sasya Merugu</a:t>
            </a:r>
          </a:p>
          <a:p>
            <a:pPr algn="ctr">
              <a:lnSpc>
                <a:spcPts val="8642"/>
              </a:lnSpc>
            </a:pPr>
          </a:p>
        </p:txBody>
      </p:sp>
      <p:grpSp>
        <p:nvGrpSpPr>
          <p:cNvPr name="Group 4" id="4"/>
          <p:cNvGrpSpPr/>
          <p:nvPr/>
        </p:nvGrpSpPr>
        <p:grpSpPr>
          <a:xfrm rot="0">
            <a:off x="16718943" y="-989670"/>
            <a:ext cx="1080715" cy="2956684"/>
            <a:chOff x="0" y="0"/>
            <a:chExt cx="284633" cy="778715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84633" cy="778715"/>
            </a:xfrm>
            <a:custGeom>
              <a:avLst/>
              <a:gdLst/>
              <a:ahLst/>
              <a:cxnLst/>
              <a:rect r="r" b="b" t="t" l="l"/>
              <a:pathLst>
                <a:path h="778715" w="284633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-529352" y="9803843"/>
            <a:ext cx="19346704" cy="821917"/>
            <a:chOff x="0" y="0"/>
            <a:chExt cx="5095428" cy="216472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5095428" cy="216472"/>
            </a:xfrm>
            <a:custGeom>
              <a:avLst/>
              <a:gdLst/>
              <a:ahLst/>
              <a:cxnLst/>
              <a:rect r="r" b="b" t="t" l="l"/>
              <a:pathLst>
                <a:path h="216472" w="5095428">
                  <a:moveTo>
                    <a:pt x="20409" y="0"/>
                  </a:moveTo>
                  <a:lnTo>
                    <a:pt x="5075020" y="0"/>
                  </a:lnTo>
                  <a:cubicBezTo>
                    <a:pt x="5086291" y="0"/>
                    <a:pt x="5095428" y="9137"/>
                    <a:pt x="5095428" y="20409"/>
                  </a:cubicBezTo>
                  <a:lnTo>
                    <a:pt x="5095428" y="196063"/>
                  </a:lnTo>
                  <a:cubicBezTo>
                    <a:pt x="5095428" y="201476"/>
                    <a:pt x="5093278" y="206667"/>
                    <a:pt x="5089451" y="210494"/>
                  </a:cubicBezTo>
                  <a:cubicBezTo>
                    <a:pt x="5085623" y="214322"/>
                    <a:pt x="5080432" y="216472"/>
                    <a:pt x="5075020" y="216472"/>
                  </a:cubicBezTo>
                  <a:lnTo>
                    <a:pt x="20409" y="216472"/>
                  </a:lnTo>
                  <a:cubicBezTo>
                    <a:pt x="14996" y="216472"/>
                    <a:pt x="9805" y="214322"/>
                    <a:pt x="5978" y="210494"/>
                  </a:cubicBezTo>
                  <a:cubicBezTo>
                    <a:pt x="2150" y="206667"/>
                    <a:pt x="0" y="201476"/>
                    <a:pt x="0" y="196063"/>
                  </a:cubicBezTo>
                  <a:lnTo>
                    <a:pt x="0" y="20409"/>
                  </a:lnTo>
                  <a:cubicBezTo>
                    <a:pt x="0" y="14996"/>
                    <a:pt x="2150" y="9805"/>
                    <a:pt x="5978" y="5978"/>
                  </a:cubicBezTo>
                  <a:cubicBezTo>
                    <a:pt x="9805" y="2150"/>
                    <a:pt x="14996" y="0"/>
                    <a:pt x="20409" y="0"/>
                  </a:cubicBezTo>
                  <a:close/>
                </a:path>
              </a:pathLst>
            </a:custGeom>
            <a:solidFill>
              <a:srgbClr val="FAE7BC"/>
            </a:solidFill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5095428" cy="2545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true" flipV="false" rot="0">
            <a:off x="17259300" y="3085173"/>
            <a:ext cx="4518707" cy="3939865"/>
          </a:xfrm>
          <a:custGeom>
            <a:avLst/>
            <a:gdLst/>
            <a:ahLst/>
            <a:cxnLst/>
            <a:rect r="r" b="b" t="t" l="l"/>
            <a:pathLst>
              <a:path h="3939865" w="4518707">
                <a:moveTo>
                  <a:pt x="4518707" y="0"/>
                </a:moveTo>
                <a:lnTo>
                  <a:pt x="0" y="0"/>
                </a:lnTo>
                <a:lnTo>
                  <a:pt x="0" y="3939864"/>
                </a:lnTo>
                <a:lnTo>
                  <a:pt x="4518707" y="3939864"/>
                </a:lnTo>
                <a:lnTo>
                  <a:pt x="451870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-3486583" y="3085173"/>
            <a:ext cx="4518707" cy="3939865"/>
          </a:xfrm>
          <a:custGeom>
            <a:avLst/>
            <a:gdLst/>
            <a:ahLst/>
            <a:cxnLst/>
            <a:rect r="r" b="b" t="t" l="l"/>
            <a:pathLst>
              <a:path h="3939865" w="4518707">
                <a:moveTo>
                  <a:pt x="0" y="0"/>
                </a:moveTo>
                <a:lnTo>
                  <a:pt x="4518707" y="0"/>
                </a:lnTo>
                <a:lnTo>
                  <a:pt x="4518707" y="3939864"/>
                </a:lnTo>
                <a:lnTo>
                  <a:pt x="0" y="39398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2" id="12"/>
          <p:cNvGrpSpPr/>
          <p:nvPr/>
        </p:nvGrpSpPr>
        <p:grpSpPr>
          <a:xfrm rot="0">
            <a:off x="488343" y="-989670"/>
            <a:ext cx="1080715" cy="2956684"/>
            <a:chOff x="0" y="0"/>
            <a:chExt cx="284633" cy="778715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84633" cy="778715"/>
            </a:xfrm>
            <a:custGeom>
              <a:avLst/>
              <a:gdLst/>
              <a:ahLst/>
              <a:cxnLst/>
              <a:rect r="r" b="b" t="t" l="l"/>
              <a:pathLst>
                <a:path h="778715" w="284633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718943" y="-989670"/>
            <a:ext cx="1080715" cy="2956684"/>
            <a:chOff x="0" y="0"/>
            <a:chExt cx="284633" cy="77871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84633" cy="778715"/>
            </a:xfrm>
            <a:custGeom>
              <a:avLst/>
              <a:gdLst/>
              <a:ahLst/>
              <a:cxnLst/>
              <a:rect r="r" b="b" t="t" l="l"/>
              <a:pathLst>
                <a:path h="778715" w="284633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-529352" y="9803843"/>
            <a:ext cx="19346704" cy="821917"/>
            <a:chOff x="0" y="0"/>
            <a:chExt cx="5095428" cy="21647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5095428" cy="216472"/>
            </a:xfrm>
            <a:custGeom>
              <a:avLst/>
              <a:gdLst/>
              <a:ahLst/>
              <a:cxnLst/>
              <a:rect r="r" b="b" t="t" l="l"/>
              <a:pathLst>
                <a:path h="216472" w="5095428">
                  <a:moveTo>
                    <a:pt x="20409" y="0"/>
                  </a:moveTo>
                  <a:lnTo>
                    <a:pt x="5075020" y="0"/>
                  </a:lnTo>
                  <a:cubicBezTo>
                    <a:pt x="5086291" y="0"/>
                    <a:pt x="5095428" y="9137"/>
                    <a:pt x="5095428" y="20409"/>
                  </a:cubicBezTo>
                  <a:lnTo>
                    <a:pt x="5095428" y="196063"/>
                  </a:lnTo>
                  <a:cubicBezTo>
                    <a:pt x="5095428" y="201476"/>
                    <a:pt x="5093278" y="206667"/>
                    <a:pt x="5089451" y="210494"/>
                  </a:cubicBezTo>
                  <a:cubicBezTo>
                    <a:pt x="5085623" y="214322"/>
                    <a:pt x="5080432" y="216472"/>
                    <a:pt x="5075020" y="216472"/>
                  </a:cubicBezTo>
                  <a:lnTo>
                    <a:pt x="20409" y="216472"/>
                  </a:lnTo>
                  <a:cubicBezTo>
                    <a:pt x="14996" y="216472"/>
                    <a:pt x="9805" y="214322"/>
                    <a:pt x="5978" y="210494"/>
                  </a:cubicBezTo>
                  <a:cubicBezTo>
                    <a:pt x="2150" y="206667"/>
                    <a:pt x="0" y="201476"/>
                    <a:pt x="0" y="196063"/>
                  </a:cubicBezTo>
                  <a:lnTo>
                    <a:pt x="0" y="20409"/>
                  </a:lnTo>
                  <a:cubicBezTo>
                    <a:pt x="0" y="14996"/>
                    <a:pt x="2150" y="9805"/>
                    <a:pt x="5978" y="5978"/>
                  </a:cubicBezTo>
                  <a:cubicBezTo>
                    <a:pt x="9805" y="2150"/>
                    <a:pt x="14996" y="0"/>
                    <a:pt x="20409" y="0"/>
                  </a:cubicBezTo>
                  <a:close/>
                </a:path>
              </a:pathLst>
            </a:custGeom>
            <a:solidFill>
              <a:srgbClr val="FAE7BC"/>
            </a:solidFill>
            <a:ln w="85725" cap="rnd">
              <a:solidFill>
                <a:srgbClr val="494848"/>
              </a:solidFill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5095428" cy="2545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4563494" y="876300"/>
            <a:ext cx="8537178" cy="28399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469"/>
              </a:lnSpc>
            </a:pPr>
            <a:r>
              <a:rPr lang="en-US" b="true" sz="8192">
                <a:solidFill>
                  <a:srgbClr val="000000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OBJECTIVE</a:t>
            </a:r>
          </a:p>
          <a:p>
            <a:pPr algn="ctr">
              <a:lnSpc>
                <a:spcPts val="11469"/>
              </a:lnSpc>
            </a:pPr>
          </a:p>
        </p:txBody>
      </p:sp>
      <p:sp>
        <p:nvSpPr>
          <p:cNvPr name="TextBox 9" id="9"/>
          <p:cNvSpPr txBox="true"/>
          <p:nvPr/>
        </p:nvSpPr>
        <p:spPr>
          <a:xfrm rot="0">
            <a:off x="2916614" y="2738509"/>
            <a:ext cx="12454772" cy="18887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96"/>
              </a:lnSpc>
            </a:pPr>
            <a:r>
              <a:rPr lang="en-US" sz="364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Deploy an Indian Sign Language (ISL) alphabet recognition model on the AMD Versal VCK190 platform using the Vitis AI workflow</a:t>
            </a:r>
          </a:p>
        </p:txBody>
      </p:sp>
      <p:sp>
        <p:nvSpPr>
          <p:cNvPr name="Freeform 10" id="10"/>
          <p:cNvSpPr/>
          <p:nvPr/>
        </p:nvSpPr>
        <p:spPr>
          <a:xfrm flipH="true" flipV="false" rot="0">
            <a:off x="17259300" y="3085173"/>
            <a:ext cx="4518707" cy="3939865"/>
          </a:xfrm>
          <a:custGeom>
            <a:avLst/>
            <a:gdLst/>
            <a:ahLst/>
            <a:cxnLst/>
            <a:rect r="r" b="b" t="t" l="l"/>
            <a:pathLst>
              <a:path h="3939865" w="4518707">
                <a:moveTo>
                  <a:pt x="4518707" y="0"/>
                </a:moveTo>
                <a:lnTo>
                  <a:pt x="0" y="0"/>
                </a:lnTo>
                <a:lnTo>
                  <a:pt x="0" y="3939864"/>
                </a:lnTo>
                <a:lnTo>
                  <a:pt x="4518707" y="3939864"/>
                </a:lnTo>
                <a:lnTo>
                  <a:pt x="451870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-3486583" y="3085173"/>
            <a:ext cx="4518707" cy="3939865"/>
          </a:xfrm>
          <a:custGeom>
            <a:avLst/>
            <a:gdLst/>
            <a:ahLst/>
            <a:cxnLst/>
            <a:rect r="r" b="b" t="t" l="l"/>
            <a:pathLst>
              <a:path h="3939865" w="4518707">
                <a:moveTo>
                  <a:pt x="0" y="0"/>
                </a:moveTo>
                <a:lnTo>
                  <a:pt x="4518707" y="0"/>
                </a:lnTo>
                <a:lnTo>
                  <a:pt x="4518707" y="3939864"/>
                </a:lnTo>
                <a:lnTo>
                  <a:pt x="0" y="39398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2" id="12"/>
          <p:cNvGrpSpPr/>
          <p:nvPr/>
        </p:nvGrpSpPr>
        <p:grpSpPr>
          <a:xfrm rot="0">
            <a:off x="488343" y="-989670"/>
            <a:ext cx="1080715" cy="2956684"/>
            <a:chOff x="0" y="0"/>
            <a:chExt cx="284633" cy="778715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84633" cy="778715"/>
            </a:xfrm>
            <a:custGeom>
              <a:avLst/>
              <a:gdLst/>
              <a:ahLst/>
              <a:cxnLst/>
              <a:rect r="r" b="b" t="t" l="l"/>
              <a:pathLst>
                <a:path h="778715" w="284633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2942267" y="5308163"/>
            <a:ext cx="11830938" cy="26258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50986" indent="-325493" lvl="1">
              <a:lnSpc>
                <a:spcPts val="4221"/>
              </a:lnSpc>
              <a:buFont typeface="Arial"/>
              <a:buChar char="•"/>
            </a:pPr>
            <a:r>
              <a:rPr lang="en-US" sz="3015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Input: Hand sign image</a:t>
            </a:r>
          </a:p>
          <a:p>
            <a:pPr algn="l" marL="650986" indent="-325493" lvl="1">
              <a:lnSpc>
                <a:spcPts val="4221"/>
              </a:lnSpc>
              <a:buFont typeface="Arial"/>
              <a:buChar char="•"/>
            </a:pPr>
            <a:r>
              <a:rPr lang="en-US" sz="3015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Output: Predicted ISL alphabet (A–Z)</a:t>
            </a:r>
          </a:p>
          <a:p>
            <a:pPr algn="l" marL="650986" indent="-325493" lvl="1">
              <a:lnSpc>
                <a:spcPts val="4221"/>
              </a:lnSpc>
              <a:buFont typeface="Arial"/>
              <a:buChar char="•"/>
            </a:pPr>
            <a:r>
              <a:rPr lang="en-US" sz="3015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Target Hardware: AMD Versal VCK190</a:t>
            </a:r>
          </a:p>
          <a:p>
            <a:pPr algn="l" marL="650986" indent="-325493" lvl="1">
              <a:lnSpc>
                <a:spcPts val="4221"/>
              </a:lnSpc>
              <a:buFont typeface="Arial"/>
              <a:buChar char="•"/>
            </a:pPr>
            <a:r>
              <a:rPr lang="en-US" sz="3015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Dataset: https://github.com/ayeshatasnim-h/Indian-Sign-Language-dataset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718943" y="-989670"/>
            <a:ext cx="1080715" cy="2956684"/>
            <a:chOff x="0" y="0"/>
            <a:chExt cx="284633" cy="77871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84633" cy="778715"/>
            </a:xfrm>
            <a:custGeom>
              <a:avLst/>
              <a:gdLst/>
              <a:ahLst/>
              <a:cxnLst/>
              <a:rect r="r" b="b" t="t" l="l"/>
              <a:pathLst>
                <a:path h="778715" w="284633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-529352" y="9803843"/>
            <a:ext cx="19346704" cy="821917"/>
            <a:chOff x="0" y="0"/>
            <a:chExt cx="5095428" cy="21647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5095428" cy="216472"/>
            </a:xfrm>
            <a:custGeom>
              <a:avLst/>
              <a:gdLst/>
              <a:ahLst/>
              <a:cxnLst/>
              <a:rect r="r" b="b" t="t" l="l"/>
              <a:pathLst>
                <a:path h="216472" w="5095428">
                  <a:moveTo>
                    <a:pt x="20409" y="0"/>
                  </a:moveTo>
                  <a:lnTo>
                    <a:pt x="5075020" y="0"/>
                  </a:lnTo>
                  <a:cubicBezTo>
                    <a:pt x="5086291" y="0"/>
                    <a:pt x="5095428" y="9137"/>
                    <a:pt x="5095428" y="20409"/>
                  </a:cubicBezTo>
                  <a:lnTo>
                    <a:pt x="5095428" y="196063"/>
                  </a:lnTo>
                  <a:cubicBezTo>
                    <a:pt x="5095428" y="201476"/>
                    <a:pt x="5093278" y="206667"/>
                    <a:pt x="5089451" y="210494"/>
                  </a:cubicBezTo>
                  <a:cubicBezTo>
                    <a:pt x="5085623" y="214322"/>
                    <a:pt x="5080432" y="216472"/>
                    <a:pt x="5075020" y="216472"/>
                  </a:cubicBezTo>
                  <a:lnTo>
                    <a:pt x="20409" y="216472"/>
                  </a:lnTo>
                  <a:cubicBezTo>
                    <a:pt x="14996" y="216472"/>
                    <a:pt x="9805" y="214322"/>
                    <a:pt x="5978" y="210494"/>
                  </a:cubicBezTo>
                  <a:cubicBezTo>
                    <a:pt x="2150" y="206667"/>
                    <a:pt x="0" y="201476"/>
                    <a:pt x="0" y="196063"/>
                  </a:cubicBezTo>
                  <a:lnTo>
                    <a:pt x="0" y="20409"/>
                  </a:lnTo>
                  <a:cubicBezTo>
                    <a:pt x="0" y="14996"/>
                    <a:pt x="2150" y="9805"/>
                    <a:pt x="5978" y="5978"/>
                  </a:cubicBezTo>
                  <a:cubicBezTo>
                    <a:pt x="9805" y="2150"/>
                    <a:pt x="14996" y="0"/>
                    <a:pt x="20409" y="0"/>
                  </a:cubicBezTo>
                  <a:close/>
                </a:path>
              </a:pathLst>
            </a:custGeom>
            <a:solidFill>
              <a:srgbClr val="FAE7BC"/>
            </a:solidFill>
            <a:ln w="85725" cap="rnd">
              <a:solidFill>
                <a:srgbClr val="494848"/>
              </a:solidFill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5095428" cy="2545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2916614" y="402947"/>
            <a:ext cx="12708417" cy="16447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653"/>
              </a:lnSpc>
            </a:pPr>
            <a:r>
              <a:rPr lang="en-US" b="true" sz="4752">
                <a:solidFill>
                  <a:srgbClr val="000000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TRAINING STAGE: TRANSFER L</a:t>
            </a:r>
            <a:r>
              <a:rPr lang="en-US" b="true" sz="4752">
                <a:solidFill>
                  <a:srgbClr val="000000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EARNING &amp; FINE-TUNING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54847" y="2472785"/>
            <a:ext cx="12454772" cy="6123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96"/>
              </a:lnSpc>
            </a:pPr>
            <a:r>
              <a:rPr lang="en-US" sz="3640" b="true">
                <a:solidFill>
                  <a:srgbClr val="000000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Model Architecture &amp; Layer Freezing</a:t>
            </a:r>
          </a:p>
        </p:txBody>
      </p:sp>
      <p:sp>
        <p:nvSpPr>
          <p:cNvPr name="Freeform 10" id="10"/>
          <p:cNvSpPr/>
          <p:nvPr/>
        </p:nvSpPr>
        <p:spPr>
          <a:xfrm flipH="true" flipV="false" rot="0">
            <a:off x="17259300" y="3085173"/>
            <a:ext cx="4518707" cy="3939865"/>
          </a:xfrm>
          <a:custGeom>
            <a:avLst/>
            <a:gdLst/>
            <a:ahLst/>
            <a:cxnLst/>
            <a:rect r="r" b="b" t="t" l="l"/>
            <a:pathLst>
              <a:path h="3939865" w="4518707">
                <a:moveTo>
                  <a:pt x="4518707" y="0"/>
                </a:moveTo>
                <a:lnTo>
                  <a:pt x="0" y="0"/>
                </a:lnTo>
                <a:lnTo>
                  <a:pt x="0" y="3939864"/>
                </a:lnTo>
                <a:lnTo>
                  <a:pt x="4518707" y="3939864"/>
                </a:lnTo>
                <a:lnTo>
                  <a:pt x="451870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-3486583" y="3085173"/>
            <a:ext cx="4518707" cy="3939865"/>
          </a:xfrm>
          <a:custGeom>
            <a:avLst/>
            <a:gdLst/>
            <a:ahLst/>
            <a:cxnLst/>
            <a:rect r="r" b="b" t="t" l="l"/>
            <a:pathLst>
              <a:path h="3939865" w="4518707">
                <a:moveTo>
                  <a:pt x="0" y="0"/>
                </a:moveTo>
                <a:lnTo>
                  <a:pt x="4518707" y="0"/>
                </a:lnTo>
                <a:lnTo>
                  <a:pt x="4518707" y="3939864"/>
                </a:lnTo>
                <a:lnTo>
                  <a:pt x="0" y="39398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2" id="12"/>
          <p:cNvGrpSpPr/>
          <p:nvPr/>
        </p:nvGrpSpPr>
        <p:grpSpPr>
          <a:xfrm rot="0">
            <a:off x="488343" y="-989670"/>
            <a:ext cx="1080715" cy="2956684"/>
            <a:chOff x="0" y="0"/>
            <a:chExt cx="284633" cy="778715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84633" cy="778715"/>
            </a:xfrm>
            <a:custGeom>
              <a:avLst/>
              <a:gdLst/>
              <a:ahLst/>
              <a:cxnLst/>
              <a:rect r="r" b="b" t="t" l="l"/>
              <a:pathLst>
                <a:path h="778715" w="284633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1678379" y="3468084"/>
            <a:ext cx="15184886" cy="62583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4164" indent="-322082" lvl="1">
              <a:lnSpc>
                <a:spcPts val="4177"/>
              </a:lnSpc>
              <a:buFont typeface="Arial"/>
              <a:buChar char="•"/>
            </a:pPr>
            <a:r>
              <a:rPr lang="en-US" b="true" sz="2983">
                <a:solidFill>
                  <a:srgbClr val="000000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Pretrai</a:t>
            </a:r>
            <a:r>
              <a:rPr lang="en-US" b="true" sz="2983">
                <a:solidFill>
                  <a:srgbClr val="000000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ned Backbone</a:t>
            </a:r>
            <a:r>
              <a:rPr lang="en-US" sz="2983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A ResNet18 model was loaded using </a:t>
            </a:r>
            <a:r>
              <a:rPr lang="en-US" b="true" sz="2983">
                <a:solidFill>
                  <a:srgbClr val="000000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models.ResNet18_Weights.DEFAULT</a:t>
            </a:r>
            <a:r>
              <a:rPr lang="en-US" sz="2983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. The pretrained weights were obtained from ImageNet and already contained robust, learned visual features.</a:t>
            </a:r>
          </a:p>
          <a:p>
            <a:pPr algn="l" marL="644164" indent="-322082" lvl="1">
              <a:lnSpc>
                <a:spcPts val="4177"/>
              </a:lnSpc>
              <a:buFont typeface="Arial"/>
              <a:buChar char="•"/>
            </a:pPr>
            <a:r>
              <a:rPr lang="en-US" b="true" sz="2983">
                <a:solidFill>
                  <a:srgbClr val="000000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Layer Freezing Strategy</a:t>
            </a:r>
            <a:r>
              <a:rPr lang="en-US" sz="2983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To retain fundamental low-level visual features while reducing training time, layers 1 through 3 were frozen (</a:t>
            </a:r>
            <a:r>
              <a:rPr lang="en-US" b="true" sz="2983">
                <a:solidFill>
                  <a:srgbClr val="000000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requires_grad = False</a:t>
            </a:r>
            <a:r>
              <a:rPr lang="en-US" sz="2983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). Only the weights in layer4 and the final classification layer were left trainable (</a:t>
            </a:r>
            <a:r>
              <a:rPr lang="en-US" b="true" sz="2983">
                <a:solidFill>
                  <a:srgbClr val="000000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requires_grad = True</a:t>
            </a:r>
            <a:r>
              <a:rPr lang="en-US" sz="2983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).</a:t>
            </a:r>
          </a:p>
          <a:p>
            <a:pPr algn="l" marL="644164" indent="-322082" lvl="1">
              <a:lnSpc>
                <a:spcPts val="4177"/>
              </a:lnSpc>
              <a:buFont typeface="Arial"/>
              <a:buChar char="•"/>
            </a:pPr>
            <a:r>
              <a:rPr lang="en-US" b="true" sz="2983">
                <a:solidFill>
                  <a:srgbClr val="000000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Custom Classifier</a:t>
            </a:r>
            <a:r>
              <a:rPr lang="en-US" sz="2983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The original ResNet18 classifier produces outputs for 1000 ImageNet classes. The final fully connected layer (model.fc) was replaced with a new linear layer dynamically mapped to the number of classes in the Indian Sign Language (ISL) dataset (26 classes):</a:t>
            </a:r>
          </a:p>
          <a:p>
            <a:pPr algn="l">
              <a:lnSpc>
                <a:spcPts val="4177"/>
              </a:lnSpc>
            </a:pP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282941" y="1627480"/>
            <a:ext cx="12617344" cy="6123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95"/>
              </a:lnSpc>
            </a:pPr>
            <a:r>
              <a:rPr lang="en-US" sz="3639" b="true">
                <a:solidFill>
                  <a:srgbClr val="000000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Optimizati</a:t>
            </a:r>
            <a:r>
              <a:rPr lang="en-US" sz="3639" b="true">
                <a:solidFill>
                  <a:srgbClr val="000000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on &amp; Learning Rate Scheduling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2351588" y="3185949"/>
            <a:ext cx="13588249" cy="56051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90881" indent="-345440" lvl="1">
              <a:lnSpc>
                <a:spcPts val="4480"/>
              </a:lnSpc>
              <a:buFont typeface="Arial"/>
              <a:buChar char="•"/>
            </a:pPr>
            <a:r>
              <a:rPr lang="en-US" b="true" sz="3200">
                <a:solidFill>
                  <a:srgbClr val="000000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Loss Function</a:t>
            </a:r>
            <a:r>
              <a:rPr lang="en-US" sz="320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The model was fine-tuned on the ISL dataset using Cross-Entropy Loss (nn.CrossEntropyLoss()).</a:t>
            </a:r>
          </a:p>
          <a:p>
            <a:pPr algn="l" marL="690881" indent="-345440" lvl="1">
              <a:lnSpc>
                <a:spcPts val="4480"/>
              </a:lnSpc>
              <a:buFont typeface="Arial"/>
              <a:buChar char="•"/>
            </a:pPr>
            <a:r>
              <a:rPr lang="en-US" b="true" sz="3200">
                <a:solidFill>
                  <a:srgbClr val="000000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Optimizer:</a:t>
            </a:r>
            <a:r>
              <a:rPr lang="en-US" sz="320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 The Adam optimizer was utilized with an initial learning rate of 0.001. It was explicitly filtered to optimize only the parameters with tracking gradients enabled:</a:t>
            </a:r>
          </a:p>
          <a:p>
            <a:pPr algn="l" marL="690881" indent="-345440" lvl="1">
              <a:lnSpc>
                <a:spcPts val="4480"/>
              </a:lnSpc>
              <a:buFont typeface="Arial"/>
              <a:buChar char="•"/>
            </a:pPr>
            <a:r>
              <a:rPr lang="en-US" b="true" sz="3200">
                <a:solidFill>
                  <a:srgbClr val="000000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Learning Rate Scheduler:</a:t>
            </a:r>
            <a:r>
              <a:rPr lang="en-US" sz="320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 To prevent convergence plateaus, a ReduceLROnPlateau scheduler monitored the validation accuracy. If validation accuracy stalled for 3 consecutive epochs (patience=3), the scheduler automatically reduced the learning rate by half (factor=0.5).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6718943" y="-989670"/>
            <a:ext cx="1080715" cy="2956684"/>
            <a:chOff x="0" y="0"/>
            <a:chExt cx="284633" cy="778715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84633" cy="778715"/>
            </a:xfrm>
            <a:custGeom>
              <a:avLst/>
              <a:gdLst/>
              <a:ahLst/>
              <a:cxnLst/>
              <a:rect r="r" b="b" t="t" l="l"/>
              <a:pathLst>
                <a:path h="778715" w="284633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-529352" y="9803843"/>
            <a:ext cx="19346704" cy="821917"/>
            <a:chOff x="0" y="0"/>
            <a:chExt cx="5095428" cy="216472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5095428" cy="216472"/>
            </a:xfrm>
            <a:custGeom>
              <a:avLst/>
              <a:gdLst/>
              <a:ahLst/>
              <a:cxnLst/>
              <a:rect r="r" b="b" t="t" l="l"/>
              <a:pathLst>
                <a:path h="216472" w="5095428">
                  <a:moveTo>
                    <a:pt x="20409" y="0"/>
                  </a:moveTo>
                  <a:lnTo>
                    <a:pt x="5075020" y="0"/>
                  </a:lnTo>
                  <a:cubicBezTo>
                    <a:pt x="5086291" y="0"/>
                    <a:pt x="5095428" y="9137"/>
                    <a:pt x="5095428" y="20409"/>
                  </a:cubicBezTo>
                  <a:lnTo>
                    <a:pt x="5095428" y="196063"/>
                  </a:lnTo>
                  <a:cubicBezTo>
                    <a:pt x="5095428" y="201476"/>
                    <a:pt x="5093278" y="206667"/>
                    <a:pt x="5089451" y="210494"/>
                  </a:cubicBezTo>
                  <a:cubicBezTo>
                    <a:pt x="5085623" y="214322"/>
                    <a:pt x="5080432" y="216472"/>
                    <a:pt x="5075020" y="216472"/>
                  </a:cubicBezTo>
                  <a:lnTo>
                    <a:pt x="20409" y="216472"/>
                  </a:lnTo>
                  <a:cubicBezTo>
                    <a:pt x="14996" y="216472"/>
                    <a:pt x="9805" y="214322"/>
                    <a:pt x="5978" y="210494"/>
                  </a:cubicBezTo>
                  <a:cubicBezTo>
                    <a:pt x="2150" y="206667"/>
                    <a:pt x="0" y="201476"/>
                    <a:pt x="0" y="196063"/>
                  </a:cubicBezTo>
                  <a:lnTo>
                    <a:pt x="0" y="20409"/>
                  </a:lnTo>
                  <a:cubicBezTo>
                    <a:pt x="0" y="14996"/>
                    <a:pt x="2150" y="9805"/>
                    <a:pt x="5978" y="5978"/>
                  </a:cubicBezTo>
                  <a:cubicBezTo>
                    <a:pt x="9805" y="2150"/>
                    <a:pt x="14996" y="0"/>
                    <a:pt x="20409" y="0"/>
                  </a:cubicBezTo>
                  <a:close/>
                </a:path>
              </a:pathLst>
            </a:custGeom>
            <a:solidFill>
              <a:srgbClr val="FAE7BC"/>
            </a:solidFill>
            <a:ln w="85725" cap="rnd">
              <a:solidFill>
                <a:srgbClr val="494848"/>
              </a:solidFill>
              <a:prstDash val="solid"/>
              <a:round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5095428" cy="2545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true" flipV="false" rot="0">
            <a:off x="17259300" y="3085173"/>
            <a:ext cx="4518707" cy="3939865"/>
          </a:xfrm>
          <a:custGeom>
            <a:avLst/>
            <a:gdLst/>
            <a:ahLst/>
            <a:cxnLst/>
            <a:rect r="r" b="b" t="t" l="l"/>
            <a:pathLst>
              <a:path h="3939865" w="4518707">
                <a:moveTo>
                  <a:pt x="4518707" y="0"/>
                </a:moveTo>
                <a:lnTo>
                  <a:pt x="0" y="0"/>
                </a:lnTo>
                <a:lnTo>
                  <a:pt x="0" y="3939864"/>
                </a:lnTo>
                <a:lnTo>
                  <a:pt x="4518707" y="3939864"/>
                </a:lnTo>
                <a:lnTo>
                  <a:pt x="451870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-3486583" y="3085173"/>
            <a:ext cx="4518707" cy="3939865"/>
          </a:xfrm>
          <a:custGeom>
            <a:avLst/>
            <a:gdLst/>
            <a:ahLst/>
            <a:cxnLst/>
            <a:rect r="r" b="b" t="t" l="l"/>
            <a:pathLst>
              <a:path h="3939865" w="4518707">
                <a:moveTo>
                  <a:pt x="0" y="0"/>
                </a:moveTo>
                <a:lnTo>
                  <a:pt x="4518707" y="0"/>
                </a:lnTo>
                <a:lnTo>
                  <a:pt x="4518707" y="3939864"/>
                </a:lnTo>
                <a:lnTo>
                  <a:pt x="0" y="39398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2" id="12"/>
          <p:cNvGrpSpPr/>
          <p:nvPr/>
        </p:nvGrpSpPr>
        <p:grpSpPr>
          <a:xfrm rot="0">
            <a:off x="488343" y="-989670"/>
            <a:ext cx="1080715" cy="2956684"/>
            <a:chOff x="0" y="0"/>
            <a:chExt cx="284633" cy="778715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84633" cy="778715"/>
            </a:xfrm>
            <a:custGeom>
              <a:avLst/>
              <a:gdLst/>
              <a:ahLst/>
              <a:cxnLst/>
              <a:rect r="r" b="b" t="t" l="l"/>
              <a:pathLst>
                <a:path h="778715" w="284633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821178" y="1510754"/>
            <a:ext cx="12617344" cy="6123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95"/>
              </a:lnSpc>
            </a:pPr>
            <a:r>
              <a:rPr lang="en-US" sz="3639" b="true">
                <a:solidFill>
                  <a:srgbClr val="000000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Training Executi</a:t>
            </a:r>
            <a:r>
              <a:rPr lang="en-US" sz="3639" b="true">
                <a:solidFill>
                  <a:srgbClr val="000000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on &amp; Checkpoint Saving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940758" y="3018498"/>
            <a:ext cx="14115644" cy="56051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90881" indent="-345440" lvl="1">
              <a:lnSpc>
                <a:spcPts val="4480"/>
              </a:lnSpc>
              <a:buFont typeface="Arial"/>
              <a:buChar char="•"/>
            </a:pPr>
            <a:r>
              <a:rPr lang="en-US" b="true" sz="3200">
                <a:solidFill>
                  <a:srgbClr val="000000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Training Loop:</a:t>
            </a:r>
            <a:r>
              <a:rPr lang="en-US" sz="320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 The model was trained on the CPU over 30 epochs using a batch size of 32.</a:t>
            </a:r>
          </a:p>
          <a:p>
            <a:pPr algn="l" marL="690881" indent="-345440" lvl="1">
              <a:lnSpc>
                <a:spcPts val="4480"/>
              </a:lnSpc>
              <a:buFont typeface="Arial"/>
              <a:buChar char="•"/>
            </a:pPr>
            <a:r>
              <a:rPr lang="en-US" b="true" sz="3200">
                <a:solidFill>
                  <a:srgbClr val="000000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Validation &amp; Saving:</a:t>
            </a:r>
            <a:r>
              <a:rPr lang="en-US" sz="320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 At the end of each epoch, validation accuracy was computed. The model configuration with the highest validation accuracy was progressively tracked and saved to the designated file path:</a:t>
            </a:r>
          </a:p>
          <a:p>
            <a:pPr algn="l" marL="690881" indent="-345440" lvl="1">
              <a:lnSpc>
                <a:spcPts val="4480"/>
              </a:lnSpc>
              <a:buFont typeface="Arial"/>
              <a:buChar char="•"/>
            </a:pPr>
            <a:r>
              <a:rPr lang="en-US" b="true" sz="3200">
                <a:solidFill>
                  <a:srgbClr val="000000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Final Evaluation:</a:t>
            </a:r>
            <a:r>
              <a:rPr lang="en-US" sz="320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 After completing all epochs, the best performing checkpoint (isl_resnet18.pth) was reloaded and evaluated on the held-out test dataset, ultimately achieving a test accuracy of approximately </a:t>
            </a:r>
            <a:r>
              <a:rPr lang="en-US" b="true" sz="3200">
                <a:solidFill>
                  <a:srgbClr val="000000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99.69%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6718943" y="-989670"/>
            <a:ext cx="1080715" cy="2956684"/>
            <a:chOff x="0" y="0"/>
            <a:chExt cx="284633" cy="778715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84633" cy="778715"/>
            </a:xfrm>
            <a:custGeom>
              <a:avLst/>
              <a:gdLst/>
              <a:ahLst/>
              <a:cxnLst/>
              <a:rect r="r" b="b" t="t" l="l"/>
              <a:pathLst>
                <a:path h="778715" w="284633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-529352" y="9803843"/>
            <a:ext cx="19346704" cy="821917"/>
            <a:chOff x="0" y="0"/>
            <a:chExt cx="5095428" cy="216472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5095428" cy="216472"/>
            </a:xfrm>
            <a:custGeom>
              <a:avLst/>
              <a:gdLst/>
              <a:ahLst/>
              <a:cxnLst/>
              <a:rect r="r" b="b" t="t" l="l"/>
              <a:pathLst>
                <a:path h="216472" w="5095428">
                  <a:moveTo>
                    <a:pt x="20409" y="0"/>
                  </a:moveTo>
                  <a:lnTo>
                    <a:pt x="5075020" y="0"/>
                  </a:lnTo>
                  <a:cubicBezTo>
                    <a:pt x="5086291" y="0"/>
                    <a:pt x="5095428" y="9137"/>
                    <a:pt x="5095428" y="20409"/>
                  </a:cubicBezTo>
                  <a:lnTo>
                    <a:pt x="5095428" y="196063"/>
                  </a:lnTo>
                  <a:cubicBezTo>
                    <a:pt x="5095428" y="201476"/>
                    <a:pt x="5093278" y="206667"/>
                    <a:pt x="5089451" y="210494"/>
                  </a:cubicBezTo>
                  <a:cubicBezTo>
                    <a:pt x="5085623" y="214322"/>
                    <a:pt x="5080432" y="216472"/>
                    <a:pt x="5075020" y="216472"/>
                  </a:cubicBezTo>
                  <a:lnTo>
                    <a:pt x="20409" y="216472"/>
                  </a:lnTo>
                  <a:cubicBezTo>
                    <a:pt x="14996" y="216472"/>
                    <a:pt x="9805" y="214322"/>
                    <a:pt x="5978" y="210494"/>
                  </a:cubicBezTo>
                  <a:cubicBezTo>
                    <a:pt x="2150" y="206667"/>
                    <a:pt x="0" y="201476"/>
                    <a:pt x="0" y="196063"/>
                  </a:cubicBezTo>
                  <a:lnTo>
                    <a:pt x="0" y="20409"/>
                  </a:lnTo>
                  <a:cubicBezTo>
                    <a:pt x="0" y="14996"/>
                    <a:pt x="2150" y="9805"/>
                    <a:pt x="5978" y="5978"/>
                  </a:cubicBezTo>
                  <a:cubicBezTo>
                    <a:pt x="9805" y="2150"/>
                    <a:pt x="14996" y="0"/>
                    <a:pt x="20409" y="0"/>
                  </a:cubicBezTo>
                  <a:close/>
                </a:path>
              </a:pathLst>
            </a:custGeom>
            <a:solidFill>
              <a:srgbClr val="FAE7BC"/>
            </a:solidFill>
            <a:ln w="85725" cap="rnd">
              <a:solidFill>
                <a:srgbClr val="494848"/>
              </a:solidFill>
              <a:prstDash val="solid"/>
              <a:round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5095428" cy="2545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true" flipV="false" rot="0">
            <a:off x="17259300" y="3085173"/>
            <a:ext cx="4518707" cy="3939865"/>
          </a:xfrm>
          <a:custGeom>
            <a:avLst/>
            <a:gdLst/>
            <a:ahLst/>
            <a:cxnLst/>
            <a:rect r="r" b="b" t="t" l="l"/>
            <a:pathLst>
              <a:path h="3939865" w="4518707">
                <a:moveTo>
                  <a:pt x="4518707" y="0"/>
                </a:moveTo>
                <a:lnTo>
                  <a:pt x="0" y="0"/>
                </a:lnTo>
                <a:lnTo>
                  <a:pt x="0" y="3939864"/>
                </a:lnTo>
                <a:lnTo>
                  <a:pt x="4518707" y="3939864"/>
                </a:lnTo>
                <a:lnTo>
                  <a:pt x="451870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-3486583" y="3085173"/>
            <a:ext cx="4518707" cy="3939865"/>
          </a:xfrm>
          <a:custGeom>
            <a:avLst/>
            <a:gdLst/>
            <a:ahLst/>
            <a:cxnLst/>
            <a:rect r="r" b="b" t="t" l="l"/>
            <a:pathLst>
              <a:path h="3939865" w="4518707">
                <a:moveTo>
                  <a:pt x="0" y="0"/>
                </a:moveTo>
                <a:lnTo>
                  <a:pt x="4518707" y="0"/>
                </a:lnTo>
                <a:lnTo>
                  <a:pt x="4518707" y="3939864"/>
                </a:lnTo>
                <a:lnTo>
                  <a:pt x="0" y="39398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2" id="12"/>
          <p:cNvGrpSpPr/>
          <p:nvPr/>
        </p:nvGrpSpPr>
        <p:grpSpPr>
          <a:xfrm rot="0">
            <a:off x="488343" y="-989670"/>
            <a:ext cx="1080715" cy="2956684"/>
            <a:chOff x="0" y="0"/>
            <a:chExt cx="284633" cy="778715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84633" cy="778715"/>
            </a:xfrm>
            <a:custGeom>
              <a:avLst/>
              <a:gdLst/>
              <a:ahLst/>
              <a:cxnLst/>
              <a:rect r="r" b="b" t="t" l="l"/>
              <a:pathLst>
                <a:path h="778715" w="284633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718943" y="-989670"/>
            <a:ext cx="1080715" cy="2956684"/>
            <a:chOff x="0" y="0"/>
            <a:chExt cx="284633" cy="77871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84633" cy="778715"/>
            </a:xfrm>
            <a:custGeom>
              <a:avLst/>
              <a:gdLst/>
              <a:ahLst/>
              <a:cxnLst/>
              <a:rect r="r" b="b" t="t" l="l"/>
              <a:pathLst>
                <a:path h="778715" w="284633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-529352" y="9803843"/>
            <a:ext cx="19346704" cy="821917"/>
            <a:chOff x="0" y="0"/>
            <a:chExt cx="5095428" cy="21647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5095428" cy="216472"/>
            </a:xfrm>
            <a:custGeom>
              <a:avLst/>
              <a:gdLst/>
              <a:ahLst/>
              <a:cxnLst/>
              <a:rect r="r" b="b" t="t" l="l"/>
              <a:pathLst>
                <a:path h="216472" w="5095428">
                  <a:moveTo>
                    <a:pt x="20409" y="0"/>
                  </a:moveTo>
                  <a:lnTo>
                    <a:pt x="5075020" y="0"/>
                  </a:lnTo>
                  <a:cubicBezTo>
                    <a:pt x="5086291" y="0"/>
                    <a:pt x="5095428" y="9137"/>
                    <a:pt x="5095428" y="20409"/>
                  </a:cubicBezTo>
                  <a:lnTo>
                    <a:pt x="5095428" y="196063"/>
                  </a:lnTo>
                  <a:cubicBezTo>
                    <a:pt x="5095428" y="201476"/>
                    <a:pt x="5093278" y="206667"/>
                    <a:pt x="5089451" y="210494"/>
                  </a:cubicBezTo>
                  <a:cubicBezTo>
                    <a:pt x="5085623" y="214322"/>
                    <a:pt x="5080432" y="216472"/>
                    <a:pt x="5075020" y="216472"/>
                  </a:cubicBezTo>
                  <a:lnTo>
                    <a:pt x="20409" y="216472"/>
                  </a:lnTo>
                  <a:cubicBezTo>
                    <a:pt x="14996" y="216472"/>
                    <a:pt x="9805" y="214322"/>
                    <a:pt x="5978" y="210494"/>
                  </a:cubicBezTo>
                  <a:cubicBezTo>
                    <a:pt x="2150" y="206667"/>
                    <a:pt x="0" y="201476"/>
                    <a:pt x="0" y="196063"/>
                  </a:cubicBezTo>
                  <a:lnTo>
                    <a:pt x="0" y="20409"/>
                  </a:lnTo>
                  <a:cubicBezTo>
                    <a:pt x="0" y="14996"/>
                    <a:pt x="2150" y="9805"/>
                    <a:pt x="5978" y="5978"/>
                  </a:cubicBezTo>
                  <a:cubicBezTo>
                    <a:pt x="9805" y="2150"/>
                    <a:pt x="14996" y="0"/>
                    <a:pt x="20409" y="0"/>
                  </a:cubicBezTo>
                  <a:close/>
                </a:path>
              </a:pathLst>
            </a:custGeom>
            <a:solidFill>
              <a:srgbClr val="FAE7BC"/>
            </a:solidFill>
            <a:ln w="85725" cap="rnd">
              <a:solidFill>
                <a:srgbClr val="494848"/>
              </a:solidFill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5095428" cy="2545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true" flipV="false" rot="0">
            <a:off x="17259300" y="3085173"/>
            <a:ext cx="4518707" cy="3939865"/>
          </a:xfrm>
          <a:custGeom>
            <a:avLst/>
            <a:gdLst/>
            <a:ahLst/>
            <a:cxnLst/>
            <a:rect r="r" b="b" t="t" l="l"/>
            <a:pathLst>
              <a:path h="3939865" w="4518707">
                <a:moveTo>
                  <a:pt x="4518707" y="0"/>
                </a:moveTo>
                <a:lnTo>
                  <a:pt x="0" y="0"/>
                </a:lnTo>
                <a:lnTo>
                  <a:pt x="0" y="3939864"/>
                </a:lnTo>
                <a:lnTo>
                  <a:pt x="4518707" y="3939864"/>
                </a:lnTo>
                <a:lnTo>
                  <a:pt x="451870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-3486583" y="3085173"/>
            <a:ext cx="4518707" cy="3939865"/>
          </a:xfrm>
          <a:custGeom>
            <a:avLst/>
            <a:gdLst/>
            <a:ahLst/>
            <a:cxnLst/>
            <a:rect r="r" b="b" t="t" l="l"/>
            <a:pathLst>
              <a:path h="3939865" w="4518707">
                <a:moveTo>
                  <a:pt x="0" y="0"/>
                </a:moveTo>
                <a:lnTo>
                  <a:pt x="4518707" y="0"/>
                </a:lnTo>
                <a:lnTo>
                  <a:pt x="4518707" y="3939864"/>
                </a:lnTo>
                <a:lnTo>
                  <a:pt x="0" y="39398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488343" y="-989670"/>
            <a:ext cx="1080715" cy="2956684"/>
            <a:chOff x="0" y="0"/>
            <a:chExt cx="284633" cy="778715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84633" cy="778715"/>
            </a:xfrm>
            <a:custGeom>
              <a:avLst/>
              <a:gdLst/>
              <a:ahLst/>
              <a:cxnLst/>
              <a:rect r="r" b="b" t="t" l="l"/>
              <a:pathLst>
                <a:path h="778715" w="284633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3" id="13"/>
          <p:cNvSpPr/>
          <p:nvPr/>
        </p:nvSpPr>
        <p:spPr>
          <a:xfrm flipH="false" flipV="false" rot="0">
            <a:off x="2575225" y="3865997"/>
            <a:ext cx="13769449" cy="3159040"/>
          </a:xfrm>
          <a:custGeom>
            <a:avLst/>
            <a:gdLst/>
            <a:ahLst/>
            <a:cxnLst/>
            <a:rect r="r" b="b" t="t" l="l"/>
            <a:pathLst>
              <a:path h="3159040" w="13769449">
                <a:moveTo>
                  <a:pt x="0" y="0"/>
                </a:moveTo>
                <a:lnTo>
                  <a:pt x="13769449" y="0"/>
                </a:lnTo>
                <a:lnTo>
                  <a:pt x="13769449" y="3159040"/>
                </a:lnTo>
                <a:lnTo>
                  <a:pt x="0" y="315904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4875411" y="1814615"/>
            <a:ext cx="8537178" cy="13951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469"/>
              </a:lnSpc>
            </a:pPr>
            <a:r>
              <a:rPr lang="en-US" b="true" sz="8192">
                <a:solidFill>
                  <a:srgbClr val="000000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OUTPUT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4362341" y="348615"/>
            <a:ext cx="8537178" cy="12268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079"/>
              </a:lnSpc>
            </a:pPr>
            <a:r>
              <a:rPr lang="en-US" b="true" sz="7199">
                <a:solidFill>
                  <a:srgbClr val="000000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WORKFLOW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16718943" y="-989670"/>
            <a:ext cx="1080715" cy="2956684"/>
            <a:chOff x="0" y="0"/>
            <a:chExt cx="284633" cy="778715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84633" cy="778715"/>
            </a:xfrm>
            <a:custGeom>
              <a:avLst/>
              <a:gdLst/>
              <a:ahLst/>
              <a:cxnLst/>
              <a:rect r="r" b="b" t="t" l="l"/>
              <a:pathLst>
                <a:path h="778715" w="284633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-529352" y="9803843"/>
            <a:ext cx="19346704" cy="821917"/>
            <a:chOff x="0" y="0"/>
            <a:chExt cx="5095428" cy="216472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095428" cy="216472"/>
            </a:xfrm>
            <a:custGeom>
              <a:avLst/>
              <a:gdLst/>
              <a:ahLst/>
              <a:cxnLst/>
              <a:rect r="r" b="b" t="t" l="l"/>
              <a:pathLst>
                <a:path h="216472" w="5095428">
                  <a:moveTo>
                    <a:pt x="20409" y="0"/>
                  </a:moveTo>
                  <a:lnTo>
                    <a:pt x="5075020" y="0"/>
                  </a:lnTo>
                  <a:cubicBezTo>
                    <a:pt x="5086291" y="0"/>
                    <a:pt x="5095428" y="9137"/>
                    <a:pt x="5095428" y="20409"/>
                  </a:cubicBezTo>
                  <a:lnTo>
                    <a:pt x="5095428" y="196063"/>
                  </a:lnTo>
                  <a:cubicBezTo>
                    <a:pt x="5095428" y="201476"/>
                    <a:pt x="5093278" y="206667"/>
                    <a:pt x="5089451" y="210494"/>
                  </a:cubicBezTo>
                  <a:cubicBezTo>
                    <a:pt x="5085623" y="214322"/>
                    <a:pt x="5080432" y="216472"/>
                    <a:pt x="5075020" y="216472"/>
                  </a:cubicBezTo>
                  <a:lnTo>
                    <a:pt x="20409" y="216472"/>
                  </a:lnTo>
                  <a:cubicBezTo>
                    <a:pt x="14996" y="216472"/>
                    <a:pt x="9805" y="214322"/>
                    <a:pt x="5978" y="210494"/>
                  </a:cubicBezTo>
                  <a:cubicBezTo>
                    <a:pt x="2150" y="206667"/>
                    <a:pt x="0" y="201476"/>
                    <a:pt x="0" y="196063"/>
                  </a:cubicBezTo>
                  <a:lnTo>
                    <a:pt x="0" y="20409"/>
                  </a:lnTo>
                  <a:cubicBezTo>
                    <a:pt x="0" y="14996"/>
                    <a:pt x="2150" y="9805"/>
                    <a:pt x="5978" y="5978"/>
                  </a:cubicBezTo>
                  <a:cubicBezTo>
                    <a:pt x="9805" y="2150"/>
                    <a:pt x="14996" y="0"/>
                    <a:pt x="20409" y="0"/>
                  </a:cubicBezTo>
                  <a:close/>
                </a:path>
              </a:pathLst>
            </a:custGeom>
            <a:solidFill>
              <a:srgbClr val="FAE7BC"/>
            </a:solidFill>
            <a:ln w="85725" cap="rnd">
              <a:solidFill>
                <a:srgbClr val="494848"/>
              </a:solidFill>
              <a:prstDash val="solid"/>
              <a:round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5095428" cy="2545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true" flipV="false" rot="0">
            <a:off x="17259300" y="3085173"/>
            <a:ext cx="4518707" cy="3939865"/>
          </a:xfrm>
          <a:custGeom>
            <a:avLst/>
            <a:gdLst/>
            <a:ahLst/>
            <a:cxnLst/>
            <a:rect r="r" b="b" t="t" l="l"/>
            <a:pathLst>
              <a:path h="3939865" w="4518707">
                <a:moveTo>
                  <a:pt x="4518707" y="0"/>
                </a:moveTo>
                <a:lnTo>
                  <a:pt x="0" y="0"/>
                </a:lnTo>
                <a:lnTo>
                  <a:pt x="0" y="3939864"/>
                </a:lnTo>
                <a:lnTo>
                  <a:pt x="4518707" y="3939864"/>
                </a:lnTo>
                <a:lnTo>
                  <a:pt x="451870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-3486583" y="3085173"/>
            <a:ext cx="4518707" cy="3939865"/>
          </a:xfrm>
          <a:custGeom>
            <a:avLst/>
            <a:gdLst/>
            <a:ahLst/>
            <a:cxnLst/>
            <a:rect r="r" b="b" t="t" l="l"/>
            <a:pathLst>
              <a:path h="3939865" w="4518707">
                <a:moveTo>
                  <a:pt x="0" y="0"/>
                </a:moveTo>
                <a:lnTo>
                  <a:pt x="4518707" y="0"/>
                </a:lnTo>
                <a:lnTo>
                  <a:pt x="4518707" y="3939864"/>
                </a:lnTo>
                <a:lnTo>
                  <a:pt x="0" y="39398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488343" y="-989670"/>
            <a:ext cx="1080715" cy="2956684"/>
            <a:chOff x="0" y="0"/>
            <a:chExt cx="284633" cy="778715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84633" cy="778715"/>
            </a:xfrm>
            <a:custGeom>
              <a:avLst/>
              <a:gdLst/>
              <a:ahLst/>
              <a:cxnLst/>
              <a:rect r="r" b="b" t="t" l="l"/>
              <a:pathLst>
                <a:path h="778715" w="284633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5947802" y="1155504"/>
            <a:ext cx="5366256" cy="81027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12"/>
              </a:lnSpc>
              <a:spcBef>
                <a:spcPct val="0"/>
              </a:spcBef>
            </a:pPr>
          </a:p>
          <a:p>
            <a:pPr algn="ctr">
              <a:lnSpc>
                <a:spcPts val="3412"/>
              </a:lnSpc>
              <a:spcBef>
                <a:spcPct val="0"/>
              </a:spcBef>
            </a:pPr>
            <a:r>
              <a:rPr lang="en-US" sz="2437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</a:p>
          <a:p>
            <a:pPr algn="ctr">
              <a:lnSpc>
                <a:spcPts val="3412"/>
              </a:lnSpc>
              <a:spcBef>
                <a:spcPct val="0"/>
              </a:spcBef>
            </a:pPr>
            <a:r>
              <a:rPr lang="en-US" sz="2437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ISL Dataset</a:t>
            </a:r>
          </a:p>
          <a:p>
            <a:pPr algn="ctr">
              <a:lnSpc>
                <a:spcPts val="3412"/>
              </a:lnSpc>
              <a:spcBef>
                <a:spcPct val="0"/>
              </a:spcBef>
            </a:pPr>
            <a:r>
              <a:rPr lang="en-US" sz="2437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     ↓</a:t>
            </a:r>
          </a:p>
          <a:p>
            <a:pPr algn="ctr">
              <a:lnSpc>
                <a:spcPts val="3412"/>
              </a:lnSpc>
              <a:spcBef>
                <a:spcPct val="0"/>
              </a:spcBef>
            </a:pPr>
            <a:r>
              <a:rPr lang="en-US" sz="2437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Train ResNet18 (FP32)</a:t>
            </a:r>
          </a:p>
          <a:p>
            <a:pPr algn="ctr">
              <a:lnSpc>
                <a:spcPts val="3412"/>
              </a:lnSpc>
              <a:spcBef>
                <a:spcPct val="0"/>
              </a:spcBef>
            </a:pPr>
            <a:r>
              <a:rPr lang="en-US" sz="2437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     ↓</a:t>
            </a:r>
          </a:p>
          <a:p>
            <a:pPr algn="ctr">
              <a:lnSpc>
                <a:spcPts val="3412"/>
              </a:lnSpc>
              <a:spcBef>
                <a:spcPct val="0"/>
              </a:spcBef>
            </a:pPr>
            <a:r>
              <a:rPr lang="en-US" sz="2437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FP32 Model (.pth)</a:t>
            </a:r>
          </a:p>
          <a:p>
            <a:pPr algn="ctr">
              <a:lnSpc>
                <a:spcPts val="3412"/>
              </a:lnSpc>
              <a:spcBef>
                <a:spcPct val="0"/>
              </a:spcBef>
            </a:pPr>
            <a:r>
              <a:rPr lang="en-US" sz="2437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     ↓</a:t>
            </a:r>
          </a:p>
          <a:p>
            <a:pPr algn="ctr">
              <a:lnSpc>
                <a:spcPts val="3412"/>
              </a:lnSpc>
              <a:spcBef>
                <a:spcPct val="0"/>
              </a:spcBef>
            </a:pPr>
            <a:r>
              <a:rPr lang="en-US" sz="2437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Vitis AI Quantization (INT8)</a:t>
            </a:r>
          </a:p>
          <a:p>
            <a:pPr algn="ctr">
              <a:lnSpc>
                <a:spcPts val="3412"/>
              </a:lnSpc>
              <a:spcBef>
                <a:spcPct val="0"/>
              </a:spcBef>
            </a:pPr>
            <a:r>
              <a:rPr lang="en-US" sz="2437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     ↓</a:t>
            </a:r>
          </a:p>
          <a:p>
            <a:pPr algn="ctr">
              <a:lnSpc>
                <a:spcPts val="3412"/>
              </a:lnSpc>
              <a:spcBef>
                <a:spcPct val="0"/>
              </a:spcBef>
            </a:pPr>
            <a:r>
              <a:rPr lang="en-US" sz="2437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Quantized Model</a:t>
            </a:r>
          </a:p>
          <a:p>
            <a:pPr algn="ctr">
              <a:lnSpc>
                <a:spcPts val="3412"/>
              </a:lnSpc>
              <a:spcBef>
                <a:spcPct val="0"/>
              </a:spcBef>
            </a:pPr>
            <a:r>
              <a:rPr lang="en-US" sz="2437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     ↓</a:t>
            </a:r>
          </a:p>
          <a:p>
            <a:pPr algn="ctr">
              <a:lnSpc>
                <a:spcPts val="3412"/>
              </a:lnSpc>
              <a:spcBef>
                <a:spcPct val="0"/>
              </a:spcBef>
            </a:pPr>
            <a:r>
              <a:rPr lang="en-US" sz="2437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Vitis AI Compiler (VCK190 DPU)</a:t>
            </a:r>
          </a:p>
          <a:p>
            <a:pPr algn="ctr">
              <a:lnSpc>
                <a:spcPts val="3412"/>
              </a:lnSpc>
              <a:spcBef>
                <a:spcPct val="0"/>
              </a:spcBef>
            </a:pPr>
            <a:r>
              <a:rPr lang="en-US" sz="2437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     ↓</a:t>
            </a:r>
          </a:p>
          <a:p>
            <a:pPr algn="ctr">
              <a:lnSpc>
                <a:spcPts val="3412"/>
              </a:lnSpc>
              <a:spcBef>
                <a:spcPct val="0"/>
              </a:spcBef>
            </a:pPr>
            <a:r>
              <a:rPr lang="en-US" sz="2437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resnet18_isl.xmodel</a:t>
            </a:r>
          </a:p>
          <a:p>
            <a:pPr algn="ctr">
              <a:lnSpc>
                <a:spcPts val="3412"/>
              </a:lnSpc>
              <a:spcBef>
                <a:spcPct val="0"/>
              </a:spcBef>
            </a:pPr>
            <a:r>
              <a:rPr lang="en-US" sz="2437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     ↓</a:t>
            </a:r>
          </a:p>
          <a:p>
            <a:pPr algn="ctr">
              <a:lnSpc>
                <a:spcPts val="3412"/>
              </a:lnSpc>
              <a:spcBef>
                <a:spcPct val="0"/>
              </a:spcBef>
            </a:pPr>
            <a:r>
              <a:rPr lang="en-US" sz="2437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Deployment on VCK190</a:t>
            </a:r>
          </a:p>
          <a:p>
            <a:pPr algn="ctr">
              <a:lnSpc>
                <a:spcPts val="3412"/>
              </a:lnSpc>
              <a:spcBef>
                <a:spcPct val="0"/>
              </a:spcBef>
            </a:pPr>
            <a:r>
              <a:rPr lang="en-US" sz="2437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     ↓</a:t>
            </a:r>
          </a:p>
          <a:p>
            <a:pPr algn="ctr">
              <a:lnSpc>
                <a:spcPts val="3412"/>
              </a:lnSpc>
              <a:spcBef>
                <a:spcPct val="0"/>
              </a:spcBef>
            </a:pPr>
            <a:r>
              <a:rPr lang="en-US" sz="2437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Real-time Sign Language Inference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-2205934" y="962025"/>
            <a:ext cx="12617344" cy="12505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95"/>
              </a:lnSpc>
            </a:pPr>
            <a:r>
              <a:rPr lang="en-US" sz="3639" b="true">
                <a:solidFill>
                  <a:srgbClr val="000000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Quantizati</a:t>
            </a:r>
            <a:r>
              <a:rPr lang="en-US" sz="3639" b="true">
                <a:solidFill>
                  <a:srgbClr val="000000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on</a:t>
            </a:r>
          </a:p>
          <a:p>
            <a:pPr algn="ctr">
              <a:lnSpc>
                <a:spcPts val="5095"/>
              </a:lnSpc>
            </a:pPr>
          </a:p>
        </p:txBody>
      </p:sp>
      <p:sp>
        <p:nvSpPr>
          <p:cNvPr name="TextBox 3" id="3"/>
          <p:cNvSpPr txBox="true"/>
          <p:nvPr/>
        </p:nvSpPr>
        <p:spPr>
          <a:xfrm rot="0">
            <a:off x="2064575" y="2402454"/>
            <a:ext cx="14115644" cy="56051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90881" indent="-345440" lvl="1">
              <a:lnSpc>
                <a:spcPts val="4480"/>
              </a:lnSpc>
              <a:buFont typeface="Arial"/>
              <a:buChar char="•"/>
            </a:pPr>
            <a:r>
              <a:rPr lang="en-US" sz="320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The VCK190 DPU is optimized for INT8 inference. Quantization converts the trained FP32 ResNet18 model into an INT8 model for efficient execution on the AMD VCK190 DPU.</a:t>
            </a:r>
          </a:p>
          <a:p>
            <a:pPr algn="l" marL="690881" indent="-345440" lvl="1">
              <a:lnSpc>
                <a:spcPts val="4480"/>
              </a:lnSpc>
              <a:buFont typeface="Arial"/>
              <a:buChar char="•"/>
            </a:pPr>
            <a:r>
              <a:rPr lang="en-US" sz="320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A </a:t>
            </a:r>
            <a:r>
              <a:rPr lang="en-US" sz="320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representative calibration dataset was used to determine the activation ranges and compute scaling factors, enabling the conversion of FP32 weights and activations to INT8 with minimal accuracy loss. </a:t>
            </a:r>
          </a:p>
          <a:p>
            <a:pPr algn="l" marL="690881" indent="-345440" lvl="1">
              <a:lnSpc>
                <a:spcPts val="4480"/>
              </a:lnSpc>
              <a:buFont typeface="Arial"/>
              <a:buChar char="•"/>
            </a:pPr>
            <a:r>
              <a:rPr lang="en-US" sz="320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The resulting INT8 model was then compiled using Vitis-AI compiler for execution on the VCK190 DPU.</a:t>
            </a:r>
          </a:p>
          <a:p>
            <a:pPr algn="l">
              <a:lnSpc>
                <a:spcPts val="4480"/>
              </a:lnSpc>
            </a:pPr>
          </a:p>
        </p:txBody>
      </p:sp>
      <p:grpSp>
        <p:nvGrpSpPr>
          <p:cNvPr name="Group 4" id="4"/>
          <p:cNvGrpSpPr/>
          <p:nvPr/>
        </p:nvGrpSpPr>
        <p:grpSpPr>
          <a:xfrm rot="0">
            <a:off x="16718943" y="-989670"/>
            <a:ext cx="1080715" cy="2956684"/>
            <a:chOff x="0" y="0"/>
            <a:chExt cx="284633" cy="778715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84633" cy="778715"/>
            </a:xfrm>
            <a:custGeom>
              <a:avLst/>
              <a:gdLst/>
              <a:ahLst/>
              <a:cxnLst/>
              <a:rect r="r" b="b" t="t" l="l"/>
              <a:pathLst>
                <a:path h="778715" w="284633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-529352" y="9803843"/>
            <a:ext cx="19346704" cy="821917"/>
            <a:chOff x="0" y="0"/>
            <a:chExt cx="5095428" cy="216472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5095428" cy="216472"/>
            </a:xfrm>
            <a:custGeom>
              <a:avLst/>
              <a:gdLst/>
              <a:ahLst/>
              <a:cxnLst/>
              <a:rect r="r" b="b" t="t" l="l"/>
              <a:pathLst>
                <a:path h="216472" w="5095428">
                  <a:moveTo>
                    <a:pt x="20409" y="0"/>
                  </a:moveTo>
                  <a:lnTo>
                    <a:pt x="5075020" y="0"/>
                  </a:lnTo>
                  <a:cubicBezTo>
                    <a:pt x="5086291" y="0"/>
                    <a:pt x="5095428" y="9137"/>
                    <a:pt x="5095428" y="20409"/>
                  </a:cubicBezTo>
                  <a:lnTo>
                    <a:pt x="5095428" y="196063"/>
                  </a:lnTo>
                  <a:cubicBezTo>
                    <a:pt x="5095428" y="201476"/>
                    <a:pt x="5093278" y="206667"/>
                    <a:pt x="5089451" y="210494"/>
                  </a:cubicBezTo>
                  <a:cubicBezTo>
                    <a:pt x="5085623" y="214322"/>
                    <a:pt x="5080432" y="216472"/>
                    <a:pt x="5075020" y="216472"/>
                  </a:cubicBezTo>
                  <a:lnTo>
                    <a:pt x="20409" y="216472"/>
                  </a:lnTo>
                  <a:cubicBezTo>
                    <a:pt x="14996" y="216472"/>
                    <a:pt x="9805" y="214322"/>
                    <a:pt x="5978" y="210494"/>
                  </a:cubicBezTo>
                  <a:cubicBezTo>
                    <a:pt x="2150" y="206667"/>
                    <a:pt x="0" y="201476"/>
                    <a:pt x="0" y="196063"/>
                  </a:cubicBezTo>
                  <a:lnTo>
                    <a:pt x="0" y="20409"/>
                  </a:lnTo>
                  <a:cubicBezTo>
                    <a:pt x="0" y="14996"/>
                    <a:pt x="2150" y="9805"/>
                    <a:pt x="5978" y="5978"/>
                  </a:cubicBezTo>
                  <a:cubicBezTo>
                    <a:pt x="9805" y="2150"/>
                    <a:pt x="14996" y="0"/>
                    <a:pt x="20409" y="0"/>
                  </a:cubicBezTo>
                  <a:close/>
                </a:path>
              </a:pathLst>
            </a:custGeom>
            <a:solidFill>
              <a:srgbClr val="FAE7BC"/>
            </a:solidFill>
            <a:ln w="85725" cap="rnd">
              <a:solidFill>
                <a:srgbClr val="494848"/>
              </a:solidFill>
              <a:prstDash val="solid"/>
              <a:round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5095428" cy="2545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true" flipV="false" rot="0">
            <a:off x="17259300" y="3085173"/>
            <a:ext cx="4518707" cy="3939865"/>
          </a:xfrm>
          <a:custGeom>
            <a:avLst/>
            <a:gdLst/>
            <a:ahLst/>
            <a:cxnLst/>
            <a:rect r="r" b="b" t="t" l="l"/>
            <a:pathLst>
              <a:path h="3939865" w="4518707">
                <a:moveTo>
                  <a:pt x="4518707" y="0"/>
                </a:moveTo>
                <a:lnTo>
                  <a:pt x="0" y="0"/>
                </a:lnTo>
                <a:lnTo>
                  <a:pt x="0" y="3939864"/>
                </a:lnTo>
                <a:lnTo>
                  <a:pt x="4518707" y="3939864"/>
                </a:lnTo>
                <a:lnTo>
                  <a:pt x="451870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-3486583" y="3085173"/>
            <a:ext cx="4518707" cy="3939865"/>
          </a:xfrm>
          <a:custGeom>
            <a:avLst/>
            <a:gdLst/>
            <a:ahLst/>
            <a:cxnLst/>
            <a:rect r="r" b="b" t="t" l="l"/>
            <a:pathLst>
              <a:path h="3939865" w="4518707">
                <a:moveTo>
                  <a:pt x="0" y="0"/>
                </a:moveTo>
                <a:lnTo>
                  <a:pt x="4518707" y="0"/>
                </a:lnTo>
                <a:lnTo>
                  <a:pt x="4518707" y="3939864"/>
                </a:lnTo>
                <a:lnTo>
                  <a:pt x="0" y="39398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2" id="12"/>
          <p:cNvGrpSpPr/>
          <p:nvPr/>
        </p:nvGrpSpPr>
        <p:grpSpPr>
          <a:xfrm rot="0">
            <a:off x="488343" y="-989670"/>
            <a:ext cx="1080715" cy="2956684"/>
            <a:chOff x="0" y="0"/>
            <a:chExt cx="284633" cy="778715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84633" cy="778715"/>
            </a:xfrm>
            <a:custGeom>
              <a:avLst/>
              <a:gdLst/>
              <a:ahLst/>
              <a:cxnLst/>
              <a:rect r="r" b="b" t="t" l="l"/>
              <a:pathLst>
                <a:path h="778715" w="284633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718943" y="-989670"/>
            <a:ext cx="1080715" cy="2956684"/>
            <a:chOff x="0" y="0"/>
            <a:chExt cx="284633" cy="77871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84633" cy="778715"/>
            </a:xfrm>
            <a:custGeom>
              <a:avLst/>
              <a:gdLst/>
              <a:ahLst/>
              <a:cxnLst/>
              <a:rect r="r" b="b" t="t" l="l"/>
              <a:pathLst>
                <a:path h="778715" w="284633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-529352" y="9803843"/>
            <a:ext cx="19346704" cy="821917"/>
            <a:chOff x="0" y="0"/>
            <a:chExt cx="5095428" cy="21647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5095428" cy="216472"/>
            </a:xfrm>
            <a:custGeom>
              <a:avLst/>
              <a:gdLst/>
              <a:ahLst/>
              <a:cxnLst/>
              <a:rect r="r" b="b" t="t" l="l"/>
              <a:pathLst>
                <a:path h="216472" w="5095428">
                  <a:moveTo>
                    <a:pt x="20409" y="0"/>
                  </a:moveTo>
                  <a:lnTo>
                    <a:pt x="5075020" y="0"/>
                  </a:lnTo>
                  <a:cubicBezTo>
                    <a:pt x="5086291" y="0"/>
                    <a:pt x="5095428" y="9137"/>
                    <a:pt x="5095428" y="20409"/>
                  </a:cubicBezTo>
                  <a:lnTo>
                    <a:pt x="5095428" y="196063"/>
                  </a:lnTo>
                  <a:cubicBezTo>
                    <a:pt x="5095428" y="201476"/>
                    <a:pt x="5093278" y="206667"/>
                    <a:pt x="5089451" y="210494"/>
                  </a:cubicBezTo>
                  <a:cubicBezTo>
                    <a:pt x="5085623" y="214322"/>
                    <a:pt x="5080432" y="216472"/>
                    <a:pt x="5075020" y="216472"/>
                  </a:cubicBezTo>
                  <a:lnTo>
                    <a:pt x="20409" y="216472"/>
                  </a:lnTo>
                  <a:cubicBezTo>
                    <a:pt x="14996" y="216472"/>
                    <a:pt x="9805" y="214322"/>
                    <a:pt x="5978" y="210494"/>
                  </a:cubicBezTo>
                  <a:cubicBezTo>
                    <a:pt x="2150" y="206667"/>
                    <a:pt x="0" y="201476"/>
                    <a:pt x="0" y="196063"/>
                  </a:cubicBezTo>
                  <a:lnTo>
                    <a:pt x="0" y="20409"/>
                  </a:lnTo>
                  <a:cubicBezTo>
                    <a:pt x="0" y="14996"/>
                    <a:pt x="2150" y="9805"/>
                    <a:pt x="5978" y="5978"/>
                  </a:cubicBezTo>
                  <a:cubicBezTo>
                    <a:pt x="9805" y="2150"/>
                    <a:pt x="14996" y="0"/>
                    <a:pt x="20409" y="0"/>
                  </a:cubicBezTo>
                  <a:close/>
                </a:path>
              </a:pathLst>
            </a:custGeom>
            <a:solidFill>
              <a:srgbClr val="FAE7BC"/>
            </a:solidFill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5095428" cy="2545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true" flipV="false" rot="0">
            <a:off x="17259300" y="3085173"/>
            <a:ext cx="4518707" cy="3939865"/>
          </a:xfrm>
          <a:custGeom>
            <a:avLst/>
            <a:gdLst/>
            <a:ahLst/>
            <a:cxnLst/>
            <a:rect r="r" b="b" t="t" l="l"/>
            <a:pathLst>
              <a:path h="3939865" w="4518707">
                <a:moveTo>
                  <a:pt x="4518707" y="0"/>
                </a:moveTo>
                <a:lnTo>
                  <a:pt x="0" y="0"/>
                </a:lnTo>
                <a:lnTo>
                  <a:pt x="0" y="3939864"/>
                </a:lnTo>
                <a:lnTo>
                  <a:pt x="4518707" y="3939864"/>
                </a:lnTo>
                <a:lnTo>
                  <a:pt x="451870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-3486583" y="3085173"/>
            <a:ext cx="4518707" cy="3939865"/>
          </a:xfrm>
          <a:custGeom>
            <a:avLst/>
            <a:gdLst/>
            <a:ahLst/>
            <a:cxnLst/>
            <a:rect r="r" b="b" t="t" l="l"/>
            <a:pathLst>
              <a:path h="3939865" w="4518707">
                <a:moveTo>
                  <a:pt x="0" y="0"/>
                </a:moveTo>
                <a:lnTo>
                  <a:pt x="4518707" y="0"/>
                </a:lnTo>
                <a:lnTo>
                  <a:pt x="4518707" y="3939864"/>
                </a:lnTo>
                <a:lnTo>
                  <a:pt x="0" y="39398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488343" y="-989670"/>
            <a:ext cx="1080715" cy="2956684"/>
            <a:chOff x="0" y="0"/>
            <a:chExt cx="284633" cy="778715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84633" cy="778715"/>
            </a:xfrm>
            <a:custGeom>
              <a:avLst/>
              <a:gdLst/>
              <a:ahLst/>
              <a:cxnLst/>
              <a:rect r="r" b="b" t="t" l="l"/>
              <a:pathLst>
                <a:path h="778715" w="284633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3" id="13"/>
          <p:cNvSpPr/>
          <p:nvPr/>
        </p:nvSpPr>
        <p:spPr>
          <a:xfrm flipH="false" flipV="false" rot="0">
            <a:off x="6938522" y="724311"/>
            <a:ext cx="6344926" cy="8608391"/>
          </a:xfrm>
          <a:custGeom>
            <a:avLst/>
            <a:gdLst/>
            <a:ahLst/>
            <a:cxnLst/>
            <a:rect r="r" b="b" t="t" l="l"/>
            <a:pathLst>
              <a:path h="8608391" w="6344926">
                <a:moveTo>
                  <a:pt x="0" y="0"/>
                </a:moveTo>
                <a:lnTo>
                  <a:pt x="6344925" y="0"/>
                </a:lnTo>
                <a:lnTo>
                  <a:pt x="6344925" y="8608391"/>
                </a:lnTo>
                <a:lnTo>
                  <a:pt x="0" y="860839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0" y="571911"/>
            <a:ext cx="8537178" cy="13951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469"/>
              </a:lnSpc>
            </a:pPr>
            <a:r>
              <a:rPr lang="en-US" b="true" sz="8192">
                <a:solidFill>
                  <a:srgbClr val="000000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RESULT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4798451" y="1382227"/>
            <a:ext cx="8537178" cy="13951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469"/>
              </a:lnSpc>
            </a:pPr>
            <a:r>
              <a:rPr lang="en-US" b="true" sz="8192">
                <a:solidFill>
                  <a:srgbClr val="000000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CONCLUSION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3288981" y="3368479"/>
            <a:ext cx="12069186" cy="50796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85932" indent="-392966" lvl="1">
              <a:lnSpc>
                <a:spcPts val="5096"/>
              </a:lnSpc>
              <a:buFont typeface="Arial"/>
              <a:buChar char="•"/>
            </a:pPr>
            <a:r>
              <a:rPr lang="en-US" sz="364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The trained FP32 ResNet18 model achieved </a:t>
            </a:r>
            <a:r>
              <a:rPr lang="en-US" b="true" sz="3640">
                <a:solidFill>
                  <a:srgbClr val="000000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99.69%</a:t>
            </a:r>
            <a:r>
              <a:rPr lang="en-US" sz="364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 accuracy. After INT8 quantization and deployment on the AMD VCK190, the model achieved </a:t>
            </a:r>
            <a:r>
              <a:rPr lang="en-US" b="true" sz="3640">
                <a:solidFill>
                  <a:srgbClr val="000000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99.27%</a:t>
            </a:r>
            <a:r>
              <a:rPr lang="en-US" sz="364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 accuracy, resulting in only a 0.42% accuracy drop.</a:t>
            </a:r>
          </a:p>
          <a:p>
            <a:pPr algn="l" marL="785932" indent="-392966" lvl="1">
              <a:lnSpc>
                <a:spcPts val="5096"/>
              </a:lnSpc>
              <a:buFont typeface="Arial"/>
              <a:buChar char="•"/>
            </a:pPr>
            <a:r>
              <a:rPr lang="en-US" sz="364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This demonstrates that INT8 quantization preserved model accuracy while enabling efficient execution on the VCK190 DPU.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6718943" y="-989670"/>
            <a:ext cx="1080715" cy="2956684"/>
            <a:chOff x="0" y="0"/>
            <a:chExt cx="284633" cy="778715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84633" cy="778715"/>
            </a:xfrm>
            <a:custGeom>
              <a:avLst/>
              <a:gdLst/>
              <a:ahLst/>
              <a:cxnLst/>
              <a:rect r="r" b="b" t="t" l="l"/>
              <a:pathLst>
                <a:path h="778715" w="284633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-529352" y="9803843"/>
            <a:ext cx="19346704" cy="821917"/>
            <a:chOff x="0" y="0"/>
            <a:chExt cx="5095428" cy="216472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5095428" cy="216472"/>
            </a:xfrm>
            <a:custGeom>
              <a:avLst/>
              <a:gdLst/>
              <a:ahLst/>
              <a:cxnLst/>
              <a:rect r="r" b="b" t="t" l="l"/>
              <a:pathLst>
                <a:path h="216472" w="5095428">
                  <a:moveTo>
                    <a:pt x="20409" y="0"/>
                  </a:moveTo>
                  <a:lnTo>
                    <a:pt x="5075020" y="0"/>
                  </a:lnTo>
                  <a:cubicBezTo>
                    <a:pt x="5086291" y="0"/>
                    <a:pt x="5095428" y="9137"/>
                    <a:pt x="5095428" y="20409"/>
                  </a:cubicBezTo>
                  <a:lnTo>
                    <a:pt x="5095428" y="196063"/>
                  </a:lnTo>
                  <a:cubicBezTo>
                    <a:pt x="5095428" y="201476"/>
                    <a:pt x="5093278" y="206667"/>
                    <a:pt x="5089451" y="210494"/>
                  </a:cubicBezTo>
                  <a:cubicBezTo>
                    <a:pt x="5085623" y="214322"/>
                    <a:pt x="5080432" y="216472"/>
                    <a:pt x="5075020" y="216472"/>
                  </a:cubicBezTo>
                  <a:lnTo>
                    <a:pt x="20409" y="216472"/>
                  </a:lnTo>
                  <a:cubicBezTo>
                    <a:pt x="14996" y="216472"/>
                    <a:pt x="9805" y="214322"/>
                    <a:pt x="5978" y="210494"/>
                  </a:cubicBezTo>
                  <a:cubicBezTo>
                    <a:pt x="2150" y="206667"/>
                    <a:pt x="0" y="201476"/>
                    <a:pt x="0" y="196063"/>
                  </a:cubicBezTo>
                  <a:lnTo>
                    <a:pt x="0" y="20409"/>
                  </a:lnTo>
                  <a:cubicBezTo>
                    <a:pt x="0" y="14996"/>
                    <a:pt x="2150" y="9805"/>
                    <a:pt x="5978" y="5978"/>
                  </a:cubicBezTo>
                  <a:cubicBezTo>
                    <a:pt x="9805" y="2150"/>
                    <a:pt x="14996" y="0"/>
                    <a:pt x="20409" y="0"/>
                  </a:cubicBezTo>
                  <a:close/>
                </a:path>
              </a:pathLst>
            </a:custGeom>
            <a:solidFill>
              <a:srgbClr val="FAE7BC"/>
            </a:solidFill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5095428" cy="2545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true" flipV="false" rot="0">
            <a:off x="17259300" y="3085173"/>
            <a:ext cx="4518707" cy="3939865"/>
          </a:xfrm>
          <a:custGeom>
            <a:avLst/>
            <a:gdLst/>
            <a:ahLst/>
            <a:cxnLst/>
            <a:rect r="r" b="b" t="t" l="l"/>
            <a:pathLst>
              <a:path h="3939865" w="4518707">
                <a:moveTo>
                  <a:pt x="4518707" y="0"/>
                </a:moveTo>
                <a:lnTo>
                  <a:pt x="0" y="0"/>
                </a:lnTo>
                <a:lnTo>
                  <a:pt x="0" y="3939864"/>
                </a:lnTo>
                <a:lnTo>
                  <a:pt x="4518707" y="3939864"/>
                </a:lnTo>
                <a:lnTo>
                  <a:pt x="451870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-3486583" y="3085173"/>
            <a:ext cx="4518707" cy="3939865"/>
          </a:xfrm>
          <a:custGeom>
            <a:avLst/>
            <a:gdLst/>
            <a:ahLst/>
            <a:cxnLst/>
            <a:rect r="r" b="b" t="t" l="l"/>
            <a:pathLst>
              <a:path h="3939865" w="4518707">
                <a:moveTo>
                  <a:pt x="0" y="0"/>
                </a:moveTo>
                <a:lnTo>
                  <a:pt x="4518707" y="0"/>
                </a:lnTo>
                <a:lnTo>
                  <a:pt x="4518707" y="3939864"/>
                </a:lnTo>
                <a:lnTo>
                  <a:pt x="0" y="39398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2" id="12"/>
          <p:cNvGrpSpPr/>
          <p:nvPr/>
        </p:nvGrpSpPr>
        <p:grpSpPr>
          <a:xfrm rot="0">
            <a:off x="488343" y="-989670"/>
            <a:ext cx="1080715" cy="2956684"/>
            <a:chOff x="0" y="0"/>
            <a:chExt cx="284633" cy="778715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84633" cy="778715"/>
            </a:xfrm>
            <a:custGeom>
              <a:avLst/>
              <a:gdLst/>
              <a:ahLst/>
              <a:cxnLst/>
              <a:rect r="r" b="b" t="t" l="l"/>
              <a:pathLst>
                <a:path h="778715" w="284633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950481" y="4013348"/>
            <a:ext cx="12387037" cy="20317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641"/>
              </a:lnSpc>
            </a:pPr>
            <a:r>
              <a:rPr lang="en-US" b="true" sz="11886">
                <a:solidFill>
                  <a:srgbClr val="000000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THANK YOU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16718943" y="-989670"/>
            <a:ext cx="1080715" cy="2956684"/>
            <a:chOff x="0" y="0"/>
            <a:chExt cx="284633" cy="778715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84633" cy="778715"/>
            </a:xfrm>
            <a:custGeom>
              <a:avLst/>
              <a:gdLst/>
              <a:ahLst/>
              <a:cxnLst/>
              <a:rect r="r" b="b" t="t" l="l"/>
              <a:pathLst>
                <a:path h="778715" w="284633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-529352" y="9803843"/>
            <a:ext cx="19346704" cy="821917"/>
            <a:chOff x="0" y="0"/>
            <a:chExt cx="5095428" cy="216472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095428" cy="216472"/>
            </a:xfrm>
            <a:custGeom>
              <a:avLst/>
              <a:gdLst/>
              <a:ahLst/>
              <a:cxnLst/>
              <a:rect r="r" b="b" t="t" l="l"/>
              <a:pathLst>
                <a:path h="216472" w="5095428">
                  <a:moveTo>
                    <a:pt x="20409" y="0"/>
                  </a:moveTo>
                  <a:lnTo>
                    <a:pt x="5075020" y="0"/>
                  </a:lnTo>
                  <a:cubicBezTo>
                    <a:pt x="5086291" y="0"/>
                    <a:pt x="5095428" y="9137"/>
                    <a:pt x="5095428" y="20409"/>
                  </a:cubicBezTo>
                  <a:lnTo>
                    <a:pt x="5095428" y="196063"/>
                  </a:lnTo>
                  <a:cubicBezTo>
                    <a:pt x="5095428" y="201476"/>
                    <a:pt x="5093278" y="206667"/>
                    <a:pt x="5089451" y="210494"/>
                  </a:cubicBezTo>
                  <a:cubicBezTo>
                    <a:pt x="5085623" y="214322"/>
                    <a:pt x="5080432" y="216472"/>
                    <a:pt x="5075020" y="216472"/>
                  </a:cubicBezTo>
                  <a:lnTo>
                    <a:pt x="20409" y="216472"/>
                  </a:lnTo>
                  <a:cubicBezTo>
                    <a:pt x="14996" y="216472"/>
                    <a:pt x="9805" y="214322"/>
                    <a:pt x="5978" y="210494"/>
                  </a:cubicBezTo>
                  <a:cubicBezTo>
                    <a:pt x="2150" y="206667"/>
                    <a:pt x="0" y="201476"/>
                    <a:pt x="0" y="196063"/>
                  </a:cubicBezTo>
                  <a:lnTo>
                    <a:pt x="0" y="20409"/>
                  </a:lnTo>
                  <a:cubicBezTo>
                    <a:pt x="0" y="14996"/>
                    <a:pt x="2150" y="9805"/>
                    <a:pt x="5978" y="5978"/>
                  </a:cubicBezTo>
                  <a:cubicBezTo>
                    <a:pt x="9805" y="2150"/>
                    <a:pt x="14996" y="0"/>
                    <a:pt x="20409" y="0"/>
                  </a:cubicBezTo>
                  <a:close/>
                </a:path>
              </a:pathLst>
            </a:custGeom>
            <a:solidFill>
              <a:srgbClr val="FAE7BC"/>
            </a:solidFill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5095428" cy="2545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true" flipV="false" rot="0">
            <a:off x="17259300" y="3085173"/>
            <a:ext cx="4518707" cy="3939865"/>
          </a:xfrm>
          <a:custGeom>
            <a:avLst/>
            <a:gdLst/>
            <a:ahLst/>
            <a:cxnLst/>
            <a:rect r="r" b="b" t="t" l="l"/>
            <a:pathLst>
              <a:path h="3939865" w="4518707">
                <a:moveTo>
                  <a:pt x="4518707" y="0"/>
                </a:moveTo>
                <a:lnTo>
                  <a:pt x="0" y="0"/>
                </a:lnTo>
                <a:lnTo>
                  <a:pt x="0" y="3939864"/>
                </a:lnTo>
                <a:lnTo>
                  <a:pt x="4518707" y="3939864"/>
                </a:lnTo>
                <a:lnTo>
                  <a:pt x="451870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-3486583" y="3085173"/>
            <a:ext cx="4518707" cy="3939865"/>
          </a:xfrm>
          <a:custGeom>
            <a:avLst/>
            <a:gdLst/>
            <a:ahLst/>
            <a:cxnLst/>
            <a:rect r="r" b="b" t="t" l="l"/>
            <a:pathLst>
              <a:path h="3939865" w="4518707">
                <a:moveTo>
                  <a:pt x="0" y="0"/>
                </a:moveTo>
                <a:lnTo>
                  <a:pt x="4518707" y="0"/>
                </a:lnTo>
                <a:lnTo>
                  <a:pt x="4518707" y="3939864"/>
                </a:lnTo>
                <a:lnTo>
                  <a:pt x="0" y="39398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488343" y="-989670"/>
            <a:ext cx="1080715" cy="2956684"/>
            <a:chOff x="0" y="0"/>
            <a:chExt cx="284633" cy="778715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84633" cy="778715"/>
            </a:xfrm>
            <a:custGeom>
              <a:avLst/>
              <a:gdLst/>
              <a:ahLst/>
              <a:cxnLst/>
              <a:rect r="r" b="b" t="t" l="l"/>
              <a:pathLst>
                <a:path h="778715" w="284633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DAHODJQ8HVg</dc:identifier>
  <dcterms:modified xsi:type="dcterms:W3CDTF">2011-08-01T06:04:30Z</dcterms:modified>
  <cp:revision>1</cp:revision>
  <dc:title>Black Yellow Modern Minimalist Elegant Presentation</dc:title>
</cp:coreProperties>
</file>